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481863a-cf61-00fa-909d-7f41d3e2ac3b}">
          <p14:sldIdLst>
            <p14:sldId id="256"/>
            <p14:sldId id="257"/>
          </p14:sldIdLst>
        </p14:section>
        <p14:section name="Concept" id="{2d42a41a-faae-62ac-84aa-dc1638a03d37}">
          <p14:sldIdLst>
            <p14:sldId id="258"/>
            <p14:sldId id="259"/>
            <p14:sldId id="260"/>
          </p14:sldIdLst>
        </p14:section>
        <p14:section name="Design" id="{62f33da3-ce70-205d-8fd1-30cded690828}">
          <p14:sldIdLst>
            <p14:sldId id="261"/>
            <p14:sldId id="262"/>
            <p14:sldId id="263"/>
            <p14:sldId id="264"/>
            <p14:sldId id="265"/>
          </p14:sldIdLst>
        </p14:section>
        <p14:section name="Delivery" id="{91e4bc4e-bde6-df61-6300-6a90d772dd18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Creatinine</c:v>
                </c:pt>
              </c:strCache>
            </c:strRef>
          </c:tx>
          <c:spPr>
            <a:solidFill>
              <a:srgbClr val="2EC4B6"/>
            </a:solidFill>
            <a:ln w="508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95</c:v>
                </c:pt>
                <c:pt idx="2">
                  <c:v>101</c:v>
                </c:pt>
                <c:pt idx="3">
                  <c:v>108</c:v>
                </c:pt>
                <c:pt idx="4">
                  <c:v>112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6"/>
          <c:min val="8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</c:v>
                </c:pt>
              </c:strCache>
            </c:strRef>
          </c:tx>
          <c:spPr>
            <a:solidFill>
              <a:srgbClr val="0E7C86"/>
            </a:solidFill>
            <a:ln w="38100" cap="flat">
              <a:solidFill>
                <a:srgbClr val="0E7C86"/>
              </a:solidFill>
              <a:prstDash val="solid,solid,dash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95</c:v>
                </c:pt>
                <c:pt idx="2">
                  <c:v>101</c:v>
                </c:pt>
                <c:pt idx="3">
                  <c:v>108</c:v>
                </c:pt>
                <c:pt idx="4">
                  <c:v>112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3-month moving avg</c:v>
                </c:pt>
              </c:strCache>
            </c:strRef>
          </c:tx>
          <c:spPr>
            <a:solidFill>
              <a:srgbClr val="F4B942"/>
            </a:solidFill>
            <a:ln w="38100" cap="flat">
              <a:solidFill>
                <a:srgbClr val="F4B942"/>
              </a:solidFill>
              <a:prstDash val="solid,solid,dash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4B942"/>
              </a:solidFill>
              <a:ln w="9525" cap="flat">
                <a:solidFill>
                  <a:srgbClr val="F4B9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/>
                </c:pt>
                <c:pt idx="1">
                  <c:v/>
                </c:pt>
                <c:pt idx="2">
                  <c:v>96</c:v>
                </c:pt>
                <c:pt idx="3">
                  <c:v>101.3</c:v>
                </c:pt>
                <c:pt idx="4">
                  <c:v>107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Reference upper</c:v>
                </c:pt>
              </c:strCache>
            </c:strRef>
          </c:tx>
          <c:spPr>
            <a:solidFill>
              <a:srgbClr val="FF6B5B"/>
            </a:solidFill>
            <a:ln w="38100" cap="flat">
              <a:solidFill>
                <a:srgbClr val="FF6B5B"/>
              </a:solidFill>
              <a:prstDash val="solid,solid,dash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6B5B"/>
              </a:solidFill>
              <a:ln w="9525" cap="flat">
                <a:solidFill>
                  <a:srgbClr val="FF6B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110</c:v>
                </c:pt>
                <c:pt idx="1">
                  <c:v>110</c:v>
                </c:pt>
                <c:pt idx="2">
                  <c:v>110</c:v>
                </c:pt>
                <c:pt idx="3">
                  <c:v>110</c:v>
                </c:pt>
                <c:pt idx="4">
                  <c:v>110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Reference lower</c:v>
                </c:pt>
              </c:strCache>
            </c:strRef>
          </c:tx>
          <c:spPr>
            <a:solidFill>
              <a:srgbClr val="FF6B5B"/>
            </a:solidFill>
            <a:ln w="38100" cap="flat">
              <a:solidFill>
                <a:srgbClr val="FF6B5B"/>
              </a:solidFill>
              <a:prstDash val="solid,solid,dash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6B5B"/>
              </a:solidFill>
              <a:ln w="9525" cap="flat">
                <a:solidFill>
                  <a:srgbClr val="FF6B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50"/>
        </c:scaling>
        <c:delete val="0"/>
        <c:axPos val="l"/>
        <c:majorGridlines>
          <c:spPr>
            <a:ln w="9525" cap="flat">
              <a:solidFill>
                <a:srgbClr val="D5E3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3C4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BioTrack is a platform that stores health measurements over time and analyses trends — it never diagnoses.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fragmented data and no trend context. Vision: a single longitudinal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enter or import records; the system produces trends, correlations and alerts; everything lands on a dashboard. Language is always trend-based.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Thirteen biomarkers in four families. Users enter manually or import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Slope = linear regression of value against time: about 5.3 per month. Percent change = (112-92)/92. The system flags a trend but does not interpret it as a disease.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capabilities mapping to the Trends / Correlation / Alerts / Dashboard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methods are explainable statistics; ML is optional and secondary.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talks to the DRF API; analytics jobs go through Celery/Redis, run in Python, and results are written back to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mainstream, well-supported stack that is achievable at a moderate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Measurements are the source of truth; trend results and alerts are recomputed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guardrails are enforced in code: alert messages come from a fixed template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suggested 12-week plan; adjust to the actual project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outcomes and where the platform can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480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4297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BioTrack · Project Proposal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3"/>
                </a:solidFill>
              </a:rPr>
              <a:t>PROJECT PROPOSAL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BioTrack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3774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Personal Health &amp; Biomarker Analytics Platform</a:t>
            </a:r>
            <a:endParaRPr lang="en-US" sz="2000" dirty="0"/>
          </a:p>
        </p:txBody>
      </p:sp>
      <p:sp>
        <p:nvSpPr>
          <p:cNvPr id="5" name="Tagline"/>
          <p:cNvSpPr txBox="1"/>
          <p:nvPr/>
        </p:nvSpPr>
        <p:spPr>
          <a:xfrm>
            <a:off x="54864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Longitudinal trend analysis — not diagnosis.</a:t>
            </a:r>
            <a:endParaRPr lang="en-US" sz="1600" dirty="0"/>
          </a:p>
        </p:txBody>
      </p:sp>
      <p:sp>
        <p:nvSpPr>
          <p:cNvPr id="6" name="HeroCard"/>
          <p:cNvSpPr/>
          <p:nvPr/>
        </p:nvSpPr>
        <p:spPr>
          <a:xfrm>
            <a:off x="5212080" y="914400"/>
            <a:ext cx="3474720" cy="320040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5349240" y="1051560"/>
          <a:ext cx="3200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BioTrack?</a:t>
            </a:r>
            <a:endParaRPr lang="en-US" sz="3400" dirty="0"/>
          </a:p>
        </p:txBody>
      </p:sp>
      <p:sp>
        <p:nvSpPr>
          <p:cNvPr id="3" name="IconCircle Scattered results"/>
          <p:cNvSpPr/>
          <p:nvPr/>
        </p:nvSpPr>
        <p:spPr>
          <a:xfrm>
            <a:off x="45720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Scattered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577340"/>
            <a:ext cx="320040" cy="320040"/>
          </a:xfrm>
          <a:prstGeom prst="rect">
            <a:avLst/>
          </a:prstGeom>
        </p:spPr>
      </p:pic>
      <p:sp>
        <p:nvSpPr>
          <p:cNvPr id="5" name="ProbHead0"/>
          <p:cNvSpPr txBox="1"/>
          <p:nvPr/>
        </p:nvSpPr>
        <p:spPr>
          <a:xfrm>
            <a:off x="12801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Scattered results</a:t>
            </a:r>
            <a:endParaRPr lang="en-US" sz="1800" dirty="0"/>
          </a:p>
        </p:txBody>
      </p:sp>
      <p:sp>
        <p:nvSpPr>
          <p:cNvPr id="6" name="ProbText0"/>
          <p:cNvSpPr txBox="1"/>
          <p:nvPr/>
        </p:nvSpPr>
        <p:spPr>
          <a:xfrm>
            <a:off x="1280160" y="1691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 reports sit in PDFs, portals and paper — never in one timeline.</a:t>
            </a:r>
            <a:endParaRPr lang="en-US" sz="1400" dirty="0"/>
          </a:p>
        </p:txBody>
      </p:sp>
      <p:sp>
        <p:nvSpPr>
          <p:cNvPr id="7" name="IconCircle Direction matters"/>
          <p:cNvSpPr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Direction matt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674620"/>
            <a:ext cx="320040" cy="320040"/>
          </a:xfrm>
          <a:prstGeom prst="rect">
            <a:avLst/>
          </a:prstGeom>
        </p:spPr>
      </p:pic>
      <p:sp>
        <p:nvSpPr>
          <p:cNvPr id="9" name="ProbHead1"/>
          <p:cNvSpPr txBox="1"/>
          <p:nvPr/>
        </p:nvSpPr>
        <p:spPr>
          <a:xfrm>
            <a:off x="12801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Direction matters</a:t>
            </a:r>
            <a:endParaRPr lang="en-US" sz="1800" dirty="0"/>
          </a:p>
        </p:txBody>
      </p:sp>
      <p:sp>
        <p:nvSpPr>
          <p:cNvPr id="10" name="ProbText1"/>
          <p:cNvSpPr txBox="1"/>
          <p:nvPr/>
        </p:nvSpPr>
        <p:spPr>
          <a:xfrm>
            <a:off x="1280160" y="2788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single value says little; the trajectory across months tells the story.</a:t>
            </a:r>
            <a:endParaRPr lang="en-US" sz="1400" dirty="0"/>
          </a:p>
        </p:txBody>
      </p:sp>
      <p:sp>
        <p:nvSpPr>
          <p:cNvPr id="11" name="IconCircle Numbers without context"/>
          <p:cNvSpPr/>
          <p:nvPr/>
        </p:nvSpPr>
        <p:spPr>
          <a:xfrm>
            <a:off x="457200" y="3611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Numbers without con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771900"/>
            <a:ext cx="320040" cy="320040"/>
          </a:xfrm>
          <a:prstGeom prst="rect">
            <a:avLst/>
          </a:prstGeom>
        </p:spPr>
      </p:pic>
      <p:sp>
        <p:nvSpPr>
          <p:cNvPr id="13" name="ProbHead2"/>
          <p:cNvSpPr txBox="1"/>
          <p:nvPr/>
        </p:nvSpPr>
        <p:spPr>
          <a:xfrm>
            <a:off x="128016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Numbers without context</a:t>
            </a:r>
            <a:endParaRPr lang="en-US" sz="1800" dirty="0"/>
          </a:p>
        </p:txBody>
      </p:sp>
      <p:sp>
        <p:nvSpPr>
          <p:cNvPr id="14" name="ProbText2"/>
          <p:cNvSpPr txBox="1"/>
          <p:nvPr/>
        </p:nvSpPr>
        <p:spPr>
          <a:xfrm>
            <a:off x="1280160" y="3886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People see values but not trends, reference ranges or what changed.</a:t>
            </a:r>
            <a:endParaRPr lang="en-US" sz="1400" dirty="0"/>
          </a:p>
        </p:txBody>
      </p:sp>
      <p:sp>
        <p:nvSpPr>
          <p:cNvPr id="15" name="VisionCard"/>
          <p:cNvSpPr/>
          <p:nvPr/>
        </p:nvSpPr>
        <p:spPr>
          <a:xfrm>
            <a:off x="5303520" y="1325880"/>
            <a:ext cx="3383280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VisionKicker"/>
          <p:cNvSpPr txBox="1"/>
          <p:nvPr/>
        </p:nvSpPr>
        <p:spPr>
          <a:xfrm>
            <a:off x="557784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OUR VISION</a:t>
            </a:r>
            <a:endParaRPr lang="en-US" sz="1200" dirty="0"/>
          </a:p>
        </p:txBody>
      </p:sp>
      <p:sp>
        <p:nvSpPr>
          <p:cNvPr id="17" name="VisionText"/>
          <p:cNvSpPr txBox="1"/>
          <p:nvPr/>
        </p:nvSpPr>
        <p:spPr>
          <a:xfrm>
            <a:off x="5577840" y="19202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One place to record, trend and understand your biomarkers over time — in clear, non-diagnostic language.</a:t>
            </a:r>
            <a:endParaRPr lang="en-US" sz="2000" dirty="0"/>
          </a:p>
        </p:txBody>
      </p:sp>
      <p:sp>
        <p:nvSpPr>
          <p:cNvPr id="18" name="VisionSub"/>
          <p:cNvSpPr txBox="1"/>
          <p:nvPr/>
        </p:nvSpPr>
        <p:spPr>
          <a:xfrm>
            <a:off x="5577840" y="3703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Storing numbers is easy. The value is in longitudinal analysis.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Trends, not diagnoses</a:t>
            </a:r>
            <a:endParaRPr lang="en-US" sz="3400" dirty="0"/>
          </a:p>
        </p:txBody>
      </p:sp>
      <p:sp>
        <p:nvSpPr>
          <p:cNvPr id="3" name="FlowUser"/>
          <p:cNvSpPr/>
          <p:nvPr/>
        </p:nvSpPr>
        <p:spPr>
          <a:xfrm>
            <a:off x="457200" y="1965960"/>
            <a:ext cx="1554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Circle FlowUser icon"/>
          <p:cNvSpPr/>
          <p:nvPr/>
        </p:nvSpPr>
        <p:spPr>
          <a:xfrm>
            <a:off x="594360" y="21259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FlowUs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63140"/>
            <a:ext cx="274320" cy="274320"/>
          </a:xfrm>
          <a:prstGeom prst="rect">
            <a:avLst/>
          </a:prstGeom>
        </p:spPr>
      </p:pic>
      <p:sp>
        <p:nvSpPr>
          <p:cNvPr id="6" name="FlowUser label"/>
          <p:cNvSpPr txBox="1"/>
          <p:nvPr/>
        </p:nvSpPr>
        <p:spPr>
          <a:xfrm>
            <a:off x="1188720" y="20116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User</a:t>
            </a:r>
            <a:endParaRPr lang="en-US" sz="1500" dirty="0"/>
          </a:p>
        </p:txBody>
      </p:sp>
      <p:sp>
        <p:nvSpPr>
          <p:cNvPr id="7" name="FlowRecords"/>
          <p:cNvSpPr/>
          <p:nvPr/>
        </p:nvSpPr>
        <p:spPr>
          <a:xfrm>
            <a:off x="2377440" y="1280160"/>
            <a:ext cx="1737360" cy="22402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Circle FlowRecords icon"/>
          <p:cNvSpPr/>
          <p:nvPr/>
        </p:nvSpPr>
        <p:spPr>
          <a:xfrm>
            <a:off x="2514600" y="21259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FlowRecord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263140"/>
            <a:ext cx="274320" cy="274320"/>
          </a:xfrm>
          <a:prstGeom prst="rect">
            <a:avLst/>
          </a:prstGeom>
        </p:spPr>
      </p:pic>
      <p:sp>
        <p:nvSpPr>
          <p:cNvPr id="10" name="FlowRecords label"/>
          <p:cNvSpPr txBox="1"/>
          <p:nvPr/>
        </p:nvSpPr>
        <p:spPr>
          <a:xfrm>
            <a:off x="3108960" y="1325880"/>
            <a:ext cx="914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Health Records</a:t>
            </a:r>
            <a:endParaRPr lang="en-US" sz="1500" dirty="0"/>
          </a:p>
        </p:txBody>
      </p:sp>
      <p:sp>
        <p:nvSpPr>
          <p:cNvPr id="11" name="FlowTrends"/>
          <p:cNvSpPr/>
          <p:nvPr/>
        </p:nvSpPr>
        <p:spPr>
          <a:xfrm>
            <a:off x="4572000" y="1280160"/>
            <a:ext cx="18288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Circle FlowTrends icon"/>
          <p:cNvSpPr/>
          <p:nvPr/>
        </p:nvSpPr>
        <p:spPr>
          <a:xfrm>
            <a:off x="4709160" y="13487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FlowTrend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85900"/>
            <a:ext cx="274320" cy="274320"/>
          </a:xfrm>
          <a:prstGeom prst="rect">
            <a:avLst/>
          </a:prstGeom>
        </p:spPr>
      </p:pic>
      <p:sp>
        <p:nvSpPr>
          <p:cNvPr id="14" name="FlowTrends label"/>
          <p:cNvSpPr txBox="1"/>
          <p:nvPr/>
        </p:nvSpPr>
        <p:spPr>
          <a:xfrm>
            <a:off x="5303520" y="13258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Trends</a:t>
            </a:r>
            <a:endParaRPr lang="en-US" sz="1500" dirty="0"/>
          </a:p>
        </p:txBody>
      </p:sp>
      <p:sp>
        <p:nvSpPr>
          <p:cNvPr id="15" name="ArrowIn0"/>
          <p:cNvSpPr/>
          <p:nvPr/>
        </p:nvSpPr>
        <p:spPr>
          <a:xfrm>
            <a:off x="4114800" y="1623060"/>
            <a:ext cx="45720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16" name="ArrowOut0"/>
          <p:cNvSpPr/>
          <p:nvPr/>
        </p:nvSpPr>
        <p:spPr>
          <a:xfrm>
            <a:off x="6400800" y="1623060"/>
            <a:ext cx="36576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17" name="FlowCorrelation"/>
          <p:cNvSpPr/>
          <p:nvPr/>
        </p:nvSpPr>
        <p:spPr>
          <a:xfrm>
            <a:off x="4572000" y="2057400"/>
            <a:ext cx="18288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Circle FlowCorrelation icon"/>
          <p:cNvSpPr/>
          <p:nvPr/>
        </p:nvSpPr>
        <p:spPr>
          <a:xfrm>
            <a:off x="4709160" y="21259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FlowCorrelatio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63140"/>
            <a:ext cx="274320" cy="274320"/>
          </a:xfrm>
          <a:prstGeom prst="rect">
            <a:avLst/>
          </a:prstGeom>
        </p:spPr>
      </p:pic>
      <p:sp>
        <p:nvSpPr>
          <p:cNvPr id="20" name="FlowCorrelation label"/>
          <p:cNvSpPr txBox="1"/>
          <p:nvPr/>
        </p:nvSpPr>
        <p:spPr>
          <a:xfrm>
            <a:off x="5303520" y="21031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Correlation</a:t>
            </a:r>
            <a:endParaRPr lang="en-US" sz="1500" dirty="0"/>
          </a:p>
        </p:txBody>
      </p:sp>
      <p:sp>
        <p:nvSpPr>
          <p:cNvPr id="21" name="ArrowIn1"/>
          <p:cNvSpPr/>
          <p:nvPr/>
        </p:nvSpPr>
        <p:spPr>
          <a:xfrm>
            <a:off x="4114800" y="2400300"/>
            <a:ext cx="45720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22" name="ArrowOut1"/>
          <p:cNvSpPr/>
          <p:nvPr/>
        </p:nvSpPr>
        <p:spPr>
          <a:xfrm>
            <a:off x="6400800" y="2400300"/>
            <a:ext cx="36576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23" name="FlowAlerts"/>
          <p:cNvSpPr/>
          <p:nvPr/>
        </p:nvSpPr>
        <p:spPr>
          <a:xfrm>
            <a:off x="4572000" y="2834640"/>
            <a:ext cx="18288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Circle FlowAlerts icon"/>
          <p:cNvSpPr/>
          <p:nvPr/>
        </p:nvSpPr>
        <p:spPr>
          <a:xfrm>
            <a:off x="4709160" y="29032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FlowAlert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40380"/>
            <a:ext cx="274320" cy="274320"/>
          </a:xfrm>
          <a:prstGeom prst="rect">
            <a:avLst/>
          </a:prstGeom>
        </p:spPr>
      </p:pic>
      <p:sp>
        <p:nvSpPr>
          <p:cNvPr id="26" name="FlowAlerts label"/>
          <p:cNvSpPr txBox="1"/>
          <p:nvPr/>
        </p:nvSpPr>
        <p:spPr>
          <a:xfrm>
            <a:off x="5303520" y="28803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Alerts</a:t>
            </a:r>
            <a:endParaRPr lang="en-US" sz="1500" dirty="0"/>
          </a:p>
        </p:txBody>
      </p:sp>
      <p:sp>
        <p:nvSpPr>
          <p:cNvPr id="27" name="ArrowIn2"/>
          <p:cNvSpPr/>
          <p:nvPr/>
        </p:nvSpPr>
        <p:spPr>
          <a:xfrm>
            <a:off x="4114800" y="3177540"/>
            <a:ext cx="45720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28" name="ArrowOut2"/>
          <p:cNvSpPr/>
          <p:nvPr/>
        </p:nvSpPr>
        <p:spPr>
          <a:xfrm>
            <a:off x="6400800" y="3177540"/>
            <a:ext cx="36576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29" name="ArrowUser"/>
          <p:cNvSpPr/>
          <p:nvPr/>
        </p:nvSpPr>
        <p:spPr>
          <a:xfrm>
            <a:off x="2011680" y="2400300"/>
            <a:ext cx="36576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30" name="FlowDashboard"/>
          <p:cNvSpPr/>
          <p:nvPr/>
        </p:nvSpPr>
        <p:spPr>
          <a:xfrm>
            <a:off x="6766560" y="1280160"/>
            <a:ext cx="19202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IconCircle FlowDashboard icon"/>
          <p:cNvSpPr/>
          <p:nvPr/>
        </p:nvSpPr>
        <p:spPr>
          <a:xfrm>
            <a:off x="6903720" y="21259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Image 5" descr="FlowDashboard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2263140"/>
            <a:ext cx="274320" cy="274320"/>
          </a:xfrm>
          <a:prstGeom prst="rect">
            <a:avLst/>
          </a:prstGeom>
        </p:spPr>
      </p:pic>
      <p:sp>
        <p:nvSpPr>
          <p:cNvPr id="33" name="FlowDashboard label"/>
          <p:cNvSpPr txBox="1"/>
          <p:nvPr/>
        </p:nvSpPr>
        <p:spPr>
          <a:xfrm>
            <a:off x="7498080" y="1325880"/>
            <a:ext cx="1097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Health Dashboard</a:t>
            </a:r>
            <a:endParaRPr lang="en-US" sz="1500" dirty="0"/>
          </a:p>
        </p:txBody>
      </p:sp>
      <p:sp>
        <p:nvSpPr>
          <p:cNvPr id="34" name="SayPill"/>
          <p:cNvSpPr/>
          <p:nvPr/>
        </p:nvSpPr>
        <p:spPr>
          <a:xfrm>
            <a:off x="457200" y="3840480"/>
            <a:ext cx="3977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5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23360"/>
            <a:ext cx="320040" cy="320040"/>
          </a:xfrm>
          <a:prstGeom prst="rect">
            <a:avLst/>
          </a:prstGeom>
        </p:spPr>
      </p:pic>
      <p:sp>
        <p:nvSpPr>
          <p:cNvPr id="36" name="SayText"/>
          <p:cNvSpPr txBox="1"/>
          <p:nvPr/>
        </p:nvSpPr>
        <p:spPr>
          <a:xfrm>
            <a:off x="1097280" y="3840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“Increasing trend detected”</a:t>
            </a:r>
            <a:endParaRPr lang="en-US" sz="1600" dirty="0"/>
          </a:p>
        </p:txBody>
      </p:sp>
      <p:sp>
        <p:nvSpPr>
          <p:cNvPr id="37" name="NeverPill"/>
          <p:cNvSpPr/>
          <p:nvPr/>
        </p:nvSpPr>
        <p:spPr>
          <a:xfrm>
            <a:off x="4709160" y="3840480"/>
            <a:ext cx="3977640" cy="685800"/>
          </a:xfrm>
          <a:prstGeom prst="roundRect">
            <a:avLst>
              <a:gd name="adj" fmla="val 16000"/>
            </a:avLst>
          </a:prstGeom>
          <a:solidFill>
            <a:srgbClr val="FFE6E2"/>
          </a:solidFill>
          <a:ln w="12700">
            <a:solidFill>
              <a:srgbClr val="FFE6E2"/>
            </a:solidFill>
            <a:prstDash val="solid"/>
          </a:ln>
        </p:spPr>
      </p:sp>
      <p:pic>
        <p:nvPicPr>
          <p:cNvPr id="38" name="Image 7" descr="cros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023360"/>
            <a:ext cx="320040" cy="320040"/>
          </a:xfrm>
          <a:prstGeom prst="rect">
            <a:avLst/>
          </a:prstGeom>
        </p:spPr>
      </p:pic>
      <p:sp>
        <p:nvSpPr>
          <p:cNvPr id="39" name="NeverText"/>
          <p:cNvSpPr txBox="1"/>
          <p:nvPr/>
        </p:nvSpPr>
        <p:spPr>
          <a:xfrm>
            <a:off x="5349240" y="3840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“You have kidney disease”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users can track</a:t>
            </a:r>
            <a:endParaRPr lang="en-US" sz="3400" dirty="0"/>
          </a:p>
        </p:txBody>
      </p:sp>
      <p:sp>
        <p:nvSpPr>
          <p:cNvPr id="3" name="Group0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Circle Cardiovascular"/>
          <p:cNvSpPr/>
          <p:nvPr/>
        </p:nvSpPr>
        <p:spPr>
          <a:xfrm>
            <a:off x="68580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Cardiovasc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97380"/>
            <a:ext cx="320040" cy="320040"/>
          </a:xfrm>
          <a:prstGeom prst="rect">
            <a:avLst/>
          </a:prstGeom>
        </p:spPr>
      </p:pic>
      <p:sp>
        <p:nvSpPr>
          <p:cNvPr id="6" name="GroupHead0"/>
          <p:cNvSpPr txBox="1"/>
          <p:nvPr/>
        </p:nvSpPr>
        <p:spPr>
          <a:xfrm>
            <a:off x="150876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Cardiovascular</a:t>
            </a:r>
            <a:endParaRPr lang="en-US" sz="1800" dirty="0"/>
          </a:p>
        </p:txBody>
      </p:sp>
      <p:sp>
        <p:nvSpPr>
          <p:cNvPr id="7" name="GroupText0"/>
          <p:cNvSpPr txBox="1"/>
          <p:nvPr/>
        </p:nvSpPr>
        <p:spPr>
          <a:xfrm>
            <a:off x="1508760" y="1874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Blood pressure · Heart rate · SpO₂ · Cholesterol</a:t>
            </a:r>
            <a:endParaRPr lang="en-US" sz="1400" dirty="0"/>
          </a:p>
        </p:txBody>
      </p:sp>
      <p:sp>
        <p:nvSpPr>
          <p:cNvPr id="8" name="Group1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Circle Metabolic"/>
          <p:cNvSpPr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Metabol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897380"/>
            <a:ext cx="320040" cy="320040"/>
          </a:xfrm>
          <a:prstGeom prst="rect">
            <a:avLst/>
          </a:prstGeom>
        </p:spPr>
      </p:pic>
      <p:sp>
        <p:nvSpPr>
          <p:cNvPr id="11" name="GroupHead1"/>
          <p:cNvSpPr txBox="1"/>
          <p:nvPr/>
        </p:nvSpPr>
        <p:spPr>
          <a:xfrm>
            <a:off x="571500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Metabolic</a:t>
            </a:r>
            <a:endParaRPr lang="en-US" sz="1800" dirty="0"/>
          </a:p>
        </p:txBody>
      </p:sp>
      <p:sp>
        <p:nvSpPr>
          <p:cNvPr id="12" name="GroupText1"/>
          <p:cNvSpPr txBox="1"/>
          <p:nvPr/>
        </p:nvSpPr>
        <p:spPr>
          <a:xfrm>
            <a:off x="5715000" y="1874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 · BMI · Blood glucose · HbA1c</a:t>
            </a:r>
            <a:endParaRPr lang="en-US" sz="1400" dirty="0"/>
          </a:p>
        </p:txBody>
      </p:sp>
      <p:sp>
        <p:nvSpPr>
          <p:cNvPr id="13" name="Group2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Circle Blood &amp; nutrition"/>
          <p:cNvSpPr/>
          <p:nvPr/>
        </p:nvSpPr>
        <p:spPr>
          <a:xfrm>
            <a:off x="685800" y="3383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Blood &amp; nutri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543300"/>
            <a:ext cx="320040" cy="320040"/>
          </a:xfrm>
          <a:prstGeom prst="rect">
            <a:avLst/>
          </a:prstGeom>
        </p:spPr>
      </p:pic>
      <p:sp>
        <p:nvSpPr>
          <p:cNvPr id="16" name="GroupHead2"/>
          <p:cNvSpPr txBox="1"/>
          <p:nvPr/>
        </p:nvSpPr>
        <p:spPr>
          <a:xfrm>
            <a:off x="15087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Blood &amp; nutrition</a:t>
            </a:r>
            <a:endParaRPr lang="en-US" sz="1800" dirty="0"/>
          </a:p>
        </p:txBody>
      </p:sp>
      <p:sp>
        <p:nvSpPr>
          <p:cNvPr id="17" name="GroupText2"/>
          <p:cNvSpPr txBox="1"/>
          <p:nvPr/>
        </p:nvSpPr>
        <p:spPr>
          <a:xfrm>
            <a:off x="1508760" y="3520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Hemoglobin · WBC · Vitamin D</a:t>
            </a:r>
            <a:endParaRPr lang="en-US" sz="1400" dirty="0"/>
          </a:p>
        </p:txBody>
      </p:sp>
      <p:sp>
        <p:nvSpPr>
          <p:cNvPr id="18" name="Group3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Circle Organ function"/>
          <p:cNvSpPr/>
          <p:nvPr/>
        </p:nvSpPr>
        <p:spPr>
          <a:xfrm>
            <a:off x="4892040" y="33832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Organ func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543300"/>
            <a:ext cx="320040" cy="320040"/>
          </a:xfrm>
          <a:prstGeom prst="rect">
            <a:avLst/>
          </a:prstGeom>
        </p:spPr>
      </p:pic>
      <p:sp>
        <p:nvSpPr>
          <p:cNvPr id="21" name="GroupHead3"/>
          <p:cNvSpPr txBox="1"/>
          <p:nvPr/>
        </p:nvSpPr>
        <p:spPr>
          <a:xfrm>
            <a:off x="571500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Organ function</a:t>
            </a:r>
            <a:endParaRPr lang="en-US" sz="1800" dirty="0"/>
          </a:p>
        </p:txBody>
      </p:sp>
      <p:sp>
        <p:nvSpPr>
          <p:cNvPr id="22" name="GroupText3"/>
          <p:cNvSpPr txBox="1"/>
          <p:nvPr/>
        </p:nvSpPr>
        <p:spPr>
          <a:xfrm>
            <a:off x="5715000" y="3520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Creatinine · Liver enzymes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creatinine over five months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3949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Caption"/>
          <p:cNvSpPr txBox="1"/>
          <p:nvPr/>
        </p:nvSpPr>
        <p:spPr>
          <a:xfrm>
            <a:off x="45720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Illustrative values in µmol/L. Reference limits vary by lab, age and sex.</a:t>
            </a:r>
            <a:endParaRPr lang="en-US" sz="1100" dirty="0"/>
          </a:p>
        </p:txBody>
      </p:sp>
      <p:sp>
        <p:nvSpPr>
          <p:cNvPr id="5" name="Stat0"/>
          <p:cNvSpPr/>
          <p:nvPr/>
        </p:nvSpPr>
        <p:spPr>
          <a:xfrm>
            <a:off x="6035040" y="118872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Value0"/>
          <p:cNvSpPr txBox="1"/>
          <p:nvPr/>
        </p:nvSpPr>
        <p:spPr>
          <a:xfrm>
            <a:off x="6172200" y="11887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+5.3</a:t>
            </a:r>
            <a:endParaRPr lang="en-US" sz="2800" dirty="0"/>
          </a:p>
        </p:txBody>
      </p:sp>
      <p:sp>
        <p:nvSpPr>
          <p:cNvPr id="7" name="StatLabel0"/>
          <p:cNvSpPr txBox="1"/>
          <p:nvPr/>
        </p:nvSpPr>
        <p:spPr>
          <a:xfrm>
            <a:off x="740664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slope per month</a:t>
            </a:r>
            <a:endParaRPr lang="en-US" sz="1300" dirty="0"/>
          </a:p>
        </p:txBody>
      </p:sp>
      <p:sp>
        <p:nvSpPr>
          <p:cNvPr id="8" name="Stat1"/>
          <p:cNvSpPr/>
          <p:nvPr/>
        </p:nvSpPr>
        <p:spPr>
          <a:xfrm>
            <a:off x="6035040" y="214884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Value1"/>
          <p:cNvSpPr txBox="1"/>
          <p:nvPr/>
        </p:nvSpPr>
        <p:spPr>
          <a:xfrm>
            <a:off x="6172200" y="21488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+21.7%</a:t>
            </a:r>
            <a:endParaRPr lang="en-US" sz="2800" dirty="0"/>
          </a:p>
        </p:txBody>
      </p:sp>
      <p:sp>
        <p:nvSpPr>
          <p:cNvPr id="10" name="StatLabel1"/>
          <p:cNvSpPr txBox="1"/>
          <p:nvPr/>
        </p:nvSpPr>
        <p:spPr>
          <a:xfrm>
            <a:off x="7406640" y="21488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change, Jan → May</a:t>
            </a:r>
            <a:endParaRPr lang="en-US" sz="1300" dirty="0"/>
          </a:p>
        </p:txBody>
      </p:sp>
      <p:sp>
        <p:nvSpPr>
          <p:cNvPr id="11" name="Stat2"/>
          <p:cNvSpPr/>
          <p:nvPr/>
        </p:nvSpPr>
        <p:spPr>
          <a:xfrm>
            <a:off x="6035040" y="310896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Value2"/>
          <p:cNvSpPr txBox="1"/>
          <p:nvPr/>
        </p:nvSpPr>
        <p:spPr>
          <a:xfrm>
            <a:off x="6172200" y="3108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107</a:t>
            </a:r>
            <a:endParaRPr lang="en-US" sz="2800" dirty="0"/>
          </a:p>
        </p:txBody>
      </p:sp>
      <p:sp>
        <p:nvSpPr>
          <p:cNvPr id="13" name="StatLabel2"/>
          <p:cNvSpPr txBox="1"/>
          <p:nvPr/>
        </p:nvSpPr>
        <p:spPr>
          <a:xfrm>
            <a:off x="7406640" y="31089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3-month avg, May</a:t>
            </a:r>
            <a:endParaRPr lang="en-US" sz="1300" dirty="0"/>
          </a:p>
        </p:txBody>
      </p:sp>
      <p:sp>
        <p:nvSpPr>
          <p:cNvPr id="14" name="TrendPill"/>
          <p:cNvSpPr/>
          <p:nvPr/>
        </p:nvSpPr>
        <p:spPr>
          <a:xfrm>
            <a:off x="6035040" y="4069080"/>
            <a:ext cx="2651760" cy="502920"/>
          </a:xfrm>
          <a:prstGeom prst="roundRect">
            <a:avLst>
              <a:gd name="adj" fmla="val 4909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rendPillText"/>
          <p:cNvSpPr txBox="1"/>
          <p:nvPr/>
        </p:nvSpPr>
        <p:spPr>
          <a:xfrm>
            <a:off x="6035040" y="4069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Increasing trend detected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Core features</a:t>
            </a:r>
            <a:endParaRPr lang="en-US" sz="3400" dirty="0"/>
          </a:p>
        </p:txBody>
      </p:sp>
      <p:sp>
        <p:nvSpPr>
          <p:cNvPr id="3" name="Feature0"/>
          <p:cNvSpPr/>
          <p:nvPr/>
        </p:nvSpPr>
        <p:spPr>
          <a:xfrm>
            <a:off x="457200" y="1280160"/>
            <a:ext cx="1920240" cy="3108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Circle Trend analysis"/>
          <p:cNvSpPr/>
          <p:nvPr/>
        </p:nvSpPr>
        <p:spPr>
          <a:xfrm>
            <a:off x="1051560" y="1508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Trend 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91640"/>
            <a:ext cx="365760" cy="365760"/>
          </a:xfrm>
          <a:prstGeom prst="rect">
            <a:avLst/>
          </a:prstGeom>
        </p:spPr>
      </p:pic>
      <p:sp>
        <p:nvSpPr>
          <p:cNvPr id="6" name="FeatHead0"/>
          <p:cNvSpPr txBox="1"/>
          <p:nvPr/>
        </p:nvSpPr>
        <p:spPr>
          <a:xfrm>
            <a:off x="59436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Trend analysis</a:t>
            </a:r>
            <a:endParaRPr lang="en-US" sz="1700" dirty="0"/>
          </a:p>
        </p:txBody>
      </p:sp>
      <p:sp>
        <p:nvSpPr>
          <p:cNvPr id="7" name="FeatText0"/>
          <p:cNvSpPr txBox="1"/>
          <p:nvPr/>
        </p:nvSpPr>
        <p:spPr>
          <a:xfrm>
            <a:off x="594360" y="27889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Slope, percentage change and moving averages for every biomarker.</a:t>
            </a:r>
            <a:endParaRPr lang="en-US" sz="1400" dirty="0"/>
          </a:p>
        </p:txBody>
      </p:sp>
      <p:sp>
        <p:nvSpPr>
          <p:cNvPr id="8" name="Feature1"/>
          <p:cNvSpPr/>
          <p:nvPr/>
        </p:nvSpPr>
        <p:spPr>
          <a:xfrm>
            <a:off x="2542032" y="1280160"/>
            <a:ext cx="1920240" cy="3108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Circle Correlation"/>
          <p:cNvSpPr/>
          <p:nvPr/>
        </p:nvSpPr>
        <p:spPr>
          <a:xfrm>
            <a:off x="3136392" y="150876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Image 1" descr="Correl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691640"/>
            <a:ext cx="365760" cy="365760"/>
          </a:xfrm>
          <a:prstGeom prst="rect">
            <a:avLst/>
          </a:prstGeom>
        </p:spPr>
      </p:pic>
      <p:sp>
        <p:nvSpPr>
          <p:cNvPr id="11" name="FeatHead1"/>
          <p:cNvSpPr txBox="1"/>
          <p:nvPr/>
        </p:nvSpPr>
        <p:spPr>
          <a:xfrm>
            <a:off x="2679192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Correlation</a:t>
            </a:r>
            <a:endParaRPr lang="en-US" sz="1700" dirty="0"/>
          </a:p>
        </p:txBody>
      </p:sp>
      <p:sp>
        <p:nvSpPr>
          <p:cNvPr id="12" name="FeatText1"/>
          <p:cNvSpPr txBox="1"/>
          <p:nvPr/>
        </p:nvSpPr>
        <p:spPr>
          <a:xfrm>
            <a:off x="2679192" y="27889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Explore how markers move together, e.g. weight and blood pressure.</a:t>
            </a:r>
            <a:endParaRPr lang="en-US" sz="1400" dirty="0"/>
          </a:p>
        </p:txBody>
      </p:sp>
      <p:sp>
        <p:nvSpPr>
          <p:cNvPr id="13" name="Feature2"/>
          <p:cNvSpPr/>
          <p:nvPr/>
        </p:nvSpPr>
        <p:spPr>
          <a:xfrm>
            <a:off x="4626864" y="1280160"/>
            <a:ext cx="1920240" cy="3108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Circle Smart alerts"/>
          <p:cNvSpPr/>
          <p:nvPr/>
        </p:nvSpPr>
        <p:spPr>
          <a:xfrm>
            <a:off x="5221224" y="1508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Smart aler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691640"/>
            <a:ext cx="365760" cy="365760"/>
          </a:xfrm>
          <a:prstGeom prst="rect">
            <a:avLst/>
          </a:prstGeom>
        </p:spPr>
      </p:pic>
      <p:sp>
        <p:nvSpPr>
          <p:cNvPr id="16" name="FeatHead2"/>
          <p:cNvSpPr txBox="1"/>
          <p:nvPr/>
        </p:nvSpPr>
        <p:spPr>
          <a:xfrm>
            <a:off x="4764024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Smart alerts</a:t>
            </a:r>
            <a:endParaRPr lang="en-US" sz="1700" dirty="0"/>
          </a:p>
        </p:txBody>
      </p:sp>
      <p:sp>
        <p:nvSpPr>
          <p:cNvPr id="17" name="FeatText2"/>
          <p:cNvSpPr txBox="1"/>
          <p:nvPr/>
        </p:nvSpPr>
        <p:spPr>
          <a:xfrm>
            <a:off x="4764024" y="27889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Out-of-range readings, rapid change and sustained drift notices.</a:t>
            </a:r>
            <a:endParaRPr lang="en-US" sz="1400" dirty="0"/>
          </a:p>
        </p:txBody>
      </p:sp>
      <p:sp>
        <p:nvSpPr>
          <p:cNvPr id="18" name="Feature3"/>
          <p:cNvSpPr/>
          <p:nvPr/>
        </p:nvSpPr>
        <p:spPr>
          <a:xfrm>
            <a:off x="6711696" y="1280160"/>
            <a:ext cx="1920240" cy="3108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Circle Dashboard"/>
          <p:cNvSpPr/>
          <p:nvPr/>
        </p:nvSpPr>
        <p:spPr>
          <a:xfrm>
            <a:off x="7306056" y="150876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mage 3" descr="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691640"/>
            <a:ext cx="365760" cy="365760"/>
          </a:xfrm>
          <a:prstGeom prst="rect">
            <a:avLst/>
          </a:prstGeom>
        </p:spPr>
      </p:pic>
      <p:sp>
        <p:nvSpPr>
          <p:cNvPr id="21" name="FeatHead3"/>
          <p:cNvSpPr txBox="1"/>
          <p:nvPr/>
        </p:nvSpPr>
        <p:spPr>
          <a:xfrm>
            <a:off x="6848856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Dashboard</a:t>
            </a:r>
            <a:endParaRPr lang="en-US" sz="1700" dirty="0"/>
          </a:p>
        </p:txBody>
      </p:sp>
      <p:sp>
        <p:nvSpPr>
          <p:cNvPr id="22" name="FeatText3"/>
          <p:cNvSpPr txBox="1"/>
          <p:nvPr/>
        </p:nvSpPr>
        <p:spPr>
          <a:xfrm>
            <a:off x="6848856" y="27889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charts with reference-interval bands and CSV import.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the analytics work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834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SciPy linregress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 and direction of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change, moving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rolling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Smoothed series vs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significance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Kendall’s tau (Mann–Kendall)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trend real or noise?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NumPy, SciPy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/ Spearman across markers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z-score, IsolationForest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Unusual readings flagged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nalyticsNote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Optional: short-horizon forecasts with scikit-learn, always shown with uncertainty.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ArchFront"/>
          <p:cNvSpPr/>
          <p:nvPr/>
        </p:nvSpPr>
        <p:spPr>
          <a:xfrm>
            <a:off x="457200" y="1280160"/>
            <a:ext cx="237744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rchFront text"/>
          <p:cNvSpPr txBox="1"/>
          <p:nvPr/>
        </p:nvSpPr>
        <p:spPr>
          <a:xfrm>
            <a:off x="457200" y="1280160"/>
            <a:ext cx="2377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Next.js frontend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React · Tailwind · Recharts</a:t>
            </a:r>
            <a:endParaRPr lang="en-US" sz="1600" dirty="0"/>
          </a:p>
        </p:txBody>
      </p:sp>
      <p:sp>
        <p:nvSpPr>
          <p:cNvPr id="5" name="ArchAPI"/>
          <p:cNvSpPr/>
          <p:nvPr/>
        </p:nvSpPr>
        <p:spPr>
          <a:xfrm>
            <a:off x="3383280" y="1280160"/>
            <a:ext cx="237744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ArchAPI text"/>
          <p:cNvSpPr txBox="1"/>
          <p:nvPr/>
        </p:nvSpPr>
        <p:spPr>
          <a:xfrm>
            <a:off x="3383280" y="1280160"/>
            <a:ext cx="2377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Django REST API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Auth · CRUD · endpoints</a:t>
            </a:r>
            <a:endParaRPr lang="en-US" sz="1600" dirty="0"/>
          </a:p>
        </p:txBody>
      </p:sp>
      <p:sp>
        <p:nvSpPr>
          <p:cNvPr id="7" name="ArchDB"/>
          <p:cNvSpPr/>
          <p:nvPr/>
        </p:nvSpPr>
        <p:spPr>
          <a:xfrm>
            <a:off x="6309360" y="1280160"/>
            <a:ext cx="23774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rchDB text"/>
          <p:cNvSpPr txBox="1"/>
          <p:nvPr/>
        </p:nvSpPr>
        <p:spPr>
          <a:xfrm>
            <a:off x="6309360" y="1280160"/>
            <a:ext cx="2377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Records · results · alerts</a:t>
            </a:r>
            <a:endParaRPr lang="en-US" sz="1600" dirty="0"/>
          </a:p>
        </p:txBody>
      </p:sp>
      <p:sp>
        <p:nvSpPr>
          <p:cNvPr id="9" name="ArchQueue"/>
          <p:cNvSpPr/>
          <p:nvPr/>
        </p:nvSpPr>
        <p:spPr>
          <a:xfrm>
            <a:off x="3383280" y="3154680"/>
            <a:ext cx="23774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rchQueue text"/>
          <p:cNvSpPr txBox="1"/>
          <p:nvPr/>
        </p:nvSpPr>
        <p:spPr>
          <a:xfrm>
            <a:off x="3383280" y="3154680"/>
            <a:ext cx="2377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Celery + Redis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Background job queue</a:t>
            </a:r>
            <a:endParaRPr lang="en-US" sz="1600" dirty="0"/>
          </a:p>
        </p:txBody>
      </p:sp>
      <p:sp>
        <p:nvSpPr>
          <p:cNvPr id="11" name="ArchEngine"/>
          <p:cNvSpPr/>
          <p:nvPr/>
        </p:nvSpPr>
        <p:spPr>
          <a:xfrm>
            <a:off x="6309360" y="3154680"/>
            <a:ext cx="2377440" cy="1051560"/>
          </a:xfrm>
          <a:prstGeom prst="roundRect">
            <a:avLst>
              <a:gd name="adj" fmla="val 1043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ArchEngine text"/>
          <p:cNvSpPr txBox="1"/>
          <p:nvPr/>
        </p:nvSpPr>
        <p:spPr>
          <a:xfrm>
            <a:off x="6309360" y="3154680"/>
            <a:ext cx="2377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Analytics engine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Pandas · NumPy · SciPy · sklearn</a:t>
            </a:r>
            <a:endParaRPr lang="en-US" sz="1600" dirty="0"/>
          </a:p>
        </p:txBody>
      </p:sp>
      <p:sp>
        <p:nvSpPr>
          <p:cNvPr id="13" name="A1"/>
          <p:cNvSpPr/>
          <p:nvPr/>
        </p:nvSpPr>
        <p:spPr>
          <a:xfrm>
            <a:off x="2834640" y="1805940"/>
            <a:ext cx="54864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14" name="A2"/>
          <p:cNvSpPr/>
          <p:nvPr/>
        </p:nvSpPr>
        <p:spPr>
          <a:xfrm>
            <a:off x="5760720" y="1805940"/>
            <a:ext cx="54864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15" name="A3"/>
          <p:cNvSpPr/>
          <p:nvPr/>
        </p:nvSpPr>
        <p:spPr>
          <a:xfrm>
            <a:off x="4572000" y="2331720"/>
            <a:ext cx="0" cy="82296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16" name="A4"/>
          <p:cNvSpPr/>
          <p:nvPr/>
        </p:nvSpPr>
        <p:spPr>
          <a:xfrm>
            <a:off x="5760720" y="3680460"/>
            <a:ext cx="54864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17" name="A5"/>
          <p:cNvSpPr/>
          <p:nvPr/>
        </p:nvSpPr>
        <p:spPr>
          <a:xfrm flipV="1">
            <a:off x="7498080" y="2331720"/>
            <a:ext cx="0" cy="82296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18" name="ArchNote"/>
          <p:cNvSpPr txBox="1"/>
          <p:nvPr/>
        </p:nvSpPr>
        <p:spPr>
          <a:xfrm>
            <a:off x="457200" y="315468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Heavy analytics run in the background, so the dashboard stays fast.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Stack0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Circle Frontend"/>
          <p:cNvSpPr/>
          <p:nvPr/>
        </p:nvSpPr>
        <p:spPr>
          <a:xfrm>
            <a:off x="640080" y="1508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Front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6" name="StackHead0"/>
          <p:cNvSpPr txBox="1"/>
          <p:nvPr/>
        </p:nvSpPr>
        <p:spPr>
          <a:xfrm>
            <a:off x="64008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Frontend</a:t>
            </a:r>
            <a:endParaRPr lang="en-US" sz="2000" dirty="0"/>
          </a:p>
        </p:txBody>
      </p:sp>
      <p:sp>
        <p:nvSpPr>
          <p:cNvPr id="7" name="StackList0"/>
          <p:cNvSpPr txBox="1"/>
          <p:nvPr/>
        </p:nvSpPr>
        <p:spPr>
          <a:xfrm>
            <a:off x="640080" y="2834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React / Next.js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Tailwind CSS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Recharts</a:t>
            </a:r>
            <a:endParaRPr lang="en-US" sz="1600" dirty="0"/>
          </a:p>
        </p:txBody>
      </p:sp>
      <p:sp>
        <p:nvSpPr>
          <p:cNvPr id="8" name="Stack1"/>
          <p:cNvSpPr/>
          <p:nvPr/>
        </p:nvSpPr>
        <p:spPr>
          <a:xfrm>
            <a:off x="324612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Circle Backend"/>
          <p:cNvSpPr/>
          <p:nvPr/>
        </p:nvSpPr>
        <p:spPr>
          <a:xfrm>
            <a:off x="342900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1" descr="Back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91640"/>
            <a:ext cx="365760" cy="365760"/>
          </a:xfrm>
          <a:prstGeom prst="rect">
            <a:avLst/>
          </a:prstGeom>
        </p:spPr>
      </p:pic>
      <p:sp>
        <p:nvSpPr>
          <p:cNvPr id="11" name="StackHead1"/>
          <p:cNvSpPr txBox="1"/>
          <p:nvPr/>
        </p:nvSpPr>
        <p:spPr>
          <a:xfrm>
            <a:off x="342900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Backend</a:t>
            </a:r>
            <a:endParaRPr lang="en-US" sz="2000" dirty="0"/>
          </a:p>
        </p:txBody>
      </p:sp>
      <p:sp>
        <p:nvSpPr>
          <p:cNvPr id="12" name="StackList1"/>
          <p:cNvSpPr txBox="1"/>
          <p:nvPr/>
        </p:nvSpPr>
        <p:spPr>
          <a:xfrm>
            <a:off x="3429000" y="2834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Django REST Framework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PostgreSQL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Redis / Celery</a:t>
            </a:r>
            <a:endParaRPr lang="en-US" sz="1600" dirty="0"/>
          </a:p>
        </p:txBody>
      </p:sp>
      <p:sp>
        <p:nvSpPr>
          <p:cNvPr id="13" name="Stack2"/>
          <p:cNvSpPr/>
          <p:nvPr/>
        </p:nvSpPr>
        <p:spPr>
          <a:xfrm>
            <a:off x="603504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Circle Analytics"/>
          <p:cNvSpPr/>
          <p:nvPr/>
        </p:nvSpPr>
        <p:spPr>
          <a:xfrm>
            <a:off x="6217920" y="150876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mage 2" descr="Analytic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365760" cy="365760"/>
          </a:xfrm>
          <a:prstGeom prst="rect">
            <a:avLst/>
          </a:prstGeom>
        </p:spPr>
      </p:pic>
      <p:sp>
        <p:nvSpPr>
          <p:cNvPr id="16" name="StackHead2"/>
          <p:cNvSpPr txBox="1"/>
          <p:nvPr/>
        </p:nvSpPr>
        <p:spPr>
          <a:xfrm>
            <a:off x="621792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Analytics</a:t>
            </a:r>
            <a:endParaRPr lang="en-US" sz="2000" dirty="0"/>
          </a:p>
        </p:txBody>
      </p:sp>
      <p:sp>
        <p:nvSpPr>
          <p:cNvPr id="17" name="StackList2"/>
          <p:cNvSpPr txBox="1"/>
          <p:nvPr/>
        </p:nvSpPr>
        <p:spPr>
          <a:xfrm>
            <a:off x="6217920" y="2834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Python · Pandas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NumPy · SciPy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scikit-learn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Core data model</a:t>
            </a:r>
            <a:endParaRPr lang="en-US" sz="3400" dirty="0"/>
          </a:p>
        </p:txBody>
      </p:sp>
      <p:sp>
        <p:nvSpPr>
          <p:cNvPr id="3" name="Entity0"/>
          <p:cNvSpPr/>
          <p:nvPr/>
        </p:nvSpPr>
        <p:spPr>
          <a:xfrm>
            <a:off x="457200" y="128016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ntityName0"/>
          <p:cNvSpPr txBox="1"/>
          <p:nvPr/>
        </p:nvSpPr>
        <p:spPr>
          <a:xfrm>
            <a:off x="6400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User</a:t>
            </a:r>
            <a:endParaRPr lang="en-US" sz="1800" dirty="0"/>
          </a:p>
        </p:txBody>
      </p:sp>
      <p:sp>
        <p:nvSpPr>
          <p:cNvPr id="5" name="EntityFields0"/>
          <p:cNvSpPr txBox="1"/>
          <p:nvPr/>
        </p:nvSpPr>
        <p:spPr>
          <a:xfrm>
            <a:off x="64008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email · sex · birth year</a:t>
            </a:r>
            <a:endParaRPr lang="en-US" sz="1400" dirty="0"/>
          </a:p>
        </p:txBody>
      </p:sp>
      <p:sp>
        <p:nvSpPr>
          <p:cNvPr id="6" name="Entity1"/>
          <p:cNvSpPr/>
          <p:nvPr/>
        </p:nvSpPr>
        <p:spPr>
          <a:xfrm>
            <a:off x="3246120" y="128016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ntityName1"/>
          <p:cNvSpPr txBox="1"/>
          <p:nvPr/>
        </p:nvSpPr>
        <p:spPr>
          <a:xfrm>
            <a:off x="342900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Biomarker</a:t>
            </a:r>
            <a:endParaRPr lang="en-US" sz="1800" dirty="0"/>
          </a:p>
        </p:txBody>
      </p:sp>
      <p:sp>
        <p:nvSpPr>
          <p:cNvPr id="8" name="EntityFields1"/>
          <p:cNvSpPr txBox="1"/>
          <p:nvPr/>
        </p:nvSpPr>
        <p:spPr>
          <a:xfrm>
            <a:off x="342900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 · unit · category</a:t>
            </a:r>
            <a:endParaRPr lang="en-US" sz="1400" dirty="0"/>
          </a:p>
        </p:txBody>
      </p:sp>
      <p:sp>
        <p:nvSpPr>
          <p:cNvPr id="9" name="Entity2"/>
          <p:cNvSpPr/>
          <p:nvPr/>
        </p:nvSpPr>
        <p:spPr>
          <a:xfrm>
            <a:off x="6035040" y="128016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ntityName2"/>
          <p:cNvSpPr txBox="1"/>
          <p:nvPr/>
        </p:nvSpPr>
        <p:spPr>
          <a:xfrm>
            <a:off x="621792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ReferenceRange</a:t>
            </a:r>
            <a:endParaRPr lang="en-US" sz="1800" dirty="0"/>
          </a:p>
        </p:txBody>
      </p:sp>
      <p:sp>
        <p:nvSpPr>
          <p:cNvPr id="11" name="EntityFields2"/>
          <p:cNvSpPr txBox="1"/>
          <p:nvPr/>
        </p:nvSpPr>
        <p:spPr>
          <a:xfrm>
            <a:off x="621792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 · high · sex / age band</a:t>
            </a:r>
            <a:endParaRPr lang="en-US" sz="1400" dirty="0"/>
          </a:p>
        </p:txBody>
      </p:sp>
      <p:sp>
        <p:nvSpPr>
          <p:cNvPr id="12" name="Entity3"/>
          <p:cNvSpPr/>
          <p:nvPr/>
        </p:nvSpPr>
        <p:spPr>
          <a:xfrm>
            <a:off x="457200" y="283464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EntityName3"/>
          <p:cNvSpPr txBox="1"/>
          <p:nvPr/>
        </p:nvSpPr>
        <p:spPr>
          <a:xfrm>
            <a:off x="64008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Measurement</a:t>
            </a:r>
            <a:endParaRPr lang="en-US" sz="1800" dirty="0"/>
          </a:p>
        </p:txBody>
      </p:sp>
      <p:sp>
        <p:nvSpPr>
          <p:cNvPr id="14" name="EntityFields3"/>
          <p:cNvSpPr txBox="1"/>
          <p:nvPr/>
        </p:nvSpPr>
        <p:spPr>
          <a:xfrm>
            <a:off x="640080" y="3429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· biomarker · value · measured_at</a:t>
            </a:r>
            <a:endParaRPr lang="en-US" sz="1400" dirty="0"/>
          </a:p>
        </p:txBody>
      </p:sp>
      <p:sp>
        <p:nvSpPr>
          <p:cNvPr id="15" name="Entity4"/>
          <p:cNvSpPr/>
          <p:nvPr/>
        </p:nvSpPr>
        <p:spPr>
          <a:xfrm>
            <a:off x="3246120" y="283464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EntityName4"/>
          <p:cNvSpPr txBox="1"/>
          <p:nvPr/>
        </p:nvSpPr>
        <p:spPr>
          <a:xfrm>
            <a:off x="342900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TrendResult</a:t>
            </a:r>
            <a:endParaRPr lang="en-US" sz="1800" dirty="0"/>
          </a:p>
        </p:txBody>
      </p:sp>
      <p:sp>
        <p:nvSpPr>
          <p:cNvPr id="17" name="EntityFields4"/>
          <p:cNvSpPr txBox="1"/>
          <p:nvPr/>
        </p:nvSpPr>
        <p:spPr>
          <a:xfrm>
            <a:off x="3429000" y="3429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slope · % change · moving avg</a:t>
            </a:r>
            <a:endParaRPr lang="en-US" sz="1400" dirty="0"/>
          </a:p>
        </p:txBody>
      </p:sp>
      <p:sp>
        <p:nvSpPr>
          <p:cNvPr id="18" name="Entity5"/>
          <p:cNvSpPr/>
          <p:nvPr/>
        </p:nvSpPr>
        <p:spPr>
          <a:xfrm>
            <a:off x="6035040" y="283464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EntityName5"/>
          <p:cNvSpPr txBox="1"/>
          <p:nvPr/>
        </p:nvSpPr>
        <p:spPr>
          <a:xfrm>
            <a:off x="621792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Alert</a:t>
            </a:r>
            <a:endParaRPr lang="en-US" sz="1800" dirty="0"/>
          </a:p>
        </p:txBody>
      </p:sp>
      <p:sp>
        <p:nvSpPr>
          <p:cNvPr id="20" name="EntityFields5"/>
          <p:cNvSpPr txBox="1"/>
          <p:nvPr/>
        </p:nvSpPr>
        <p:spPr>
          <a:xfrm>
            <a:off x="6217920" y="3429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 · severity · message</a:t>
            </a:r>
            <a:endParaRPr lang="en-US" sz="1400" dirty="0"/>
          </a:p>
        </p:txBody>
      </p:sp>
      <p:sp>
        <p:nvSpPr>
          <p:cNvPr id="21" name="ModelNote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Amber entities are derived from Measurements by the analytics engine.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Safety, privacy and ethics</a:t>
            </a:r>
            <a:endParaRPr lang="en-US" sz="3400" dirty="0"/>
          </a:p>
        </p:txBody>
      </p:sp>
      <p:sp>
        <p:nvSpPr>
          <p:cNvPr id="3" name="SayCard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5" name="SayHead"/>
          <p:cNvSpPr txBox="1"/>
          <p:nvPr/>
        </p:nvSpPr>
        <p:spPr>
          <a:xfrm>
            <a:off x="109728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BioTrack says</a:t>
            </a:r>
            <a:endParaRPr lang="en-US" sz="1700" dirty="0"/>
          </a:p>
        </p:txBody>
      </p:sp>
      <p:sp>
        <p:nvSpPr>
          <p:cNvPr id="6" name="SayList"/>
          <p:cNvSpPr txBox="1"/>
          <p:nvPr/>
        </p:nvSpPr>
        <p:spPr>
          <a:xfrm>
            <a:off x="64008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Increasing trend detected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Value outside reference range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Consider discussing with a clinician</a:t>
            </a:r>
            <a:endParaRPr lang="en-US" sz="1400" dirty="0"/>
          </a:p>
        </p:txBody>
      </p:sp>
      <p:sp>
        <p:nvSpPr>
          <p:cNvPr id="7" name="NeverCard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FE6E2"/>
          </a:solidFill>
          <a:ln w="12700">
            <a:solidFill>
              <a:srgbClr val="FFE6E2"/>
            </a:solidFill>
            <a:prstDash val="solid"/>
          </a:ln>
        </p:spPr>
      </p:sp>
      <p:pic>
        <p:nvPicPr>
          <p:cNvPr id="8" name="Image 1" descr="cro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320040" cy="320040"/>
          </a:xfrm>
          <a:prstGeom prst="rect">
            <a:avLst/>
          </a:prstGeom>
        </p:spPr>
      </p:pic>
      <p:sp>
        <p:nvSpPr>
          <p:cNvPr id="9" name="NeverHead"/>
          <p:cNvSpPr txBox="1"/>
          <p:nvPr/>
        </p:nvSpPr>
        <p:spPr>
          <a:xfrm>
            <a:off x="530352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BioTrack never says</a:t>
            </a:r>
            <a:endParaRPr lang="en-US" sz="1700" dirty="0"/>
          </a:p>
        </p:txBody>
      </p:sp>
      <p:sp>
        <p:nvSpPr>
          <p:cNvPr id="10" name="NeverList"/>
          <p:cNvSpPr txBox="1"/>
          <p:nvPr/>
        </p:nvSpPr>
        <p:spPr>
          <a:xfrm>
            <a:off x="484632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“You have [disease]”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“Start or stop this medication”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“Your diagnosis is…”</a:t>
            </a:r>
            <a:endParaRPr lang="en-US" sz="1400" dirty="0"/>
          </a:p>
        </p:txBody>
      </p:sp>
      <p:sp>
        <p:nvSpPr>
          <p:cNvPr id="11" name="IconCircle Encrypted data, token-based auth"/>
          <p:cNvSpPr/>
          <p:nvPr/>
        </p:nvSpPr>
        <p:spPr>
          <a:xfrm>
            <a:off x="457200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Encrypted data, token-based au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486150"/>
            <a:ext cx="297180" cy="297180"/>
          </a:xfrm>
          <a:prstGeom prst="rect">
            <a:avLst/>
          </a:prstGeom>
        </p:spPr>
      </p:pic>
      <p:sp>
        <p:nvSpPr>
          <p:cNvPr id="13" name="PrivText0"/>
          <p:cNvSpPr txBox="1"/>
          <p:nvPr/>
        </p:nvSpPr>
        <p:spPr>
          <a:xfrm>
            <a:off x="1188720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Encrypted data, token-based auth</a:t>
            </a:r>
            <a:endParaRPr lang="en-US" sz="1400" dirty="0"/>
          </a:p>
        </p:txBody>
      </p:sp>
      <p:sp>
        <p:nvSpPr>
          <p:cNvPr id="14" name="IconCircle Export or delete data any time"/>
          <p:cNvSpPr/>
          <p:nvPr/>
        </p:nvSpPr>
        <p:spPr>
          <a:xfrm>
            <a:off x="3246120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3" descr="Export or delete data any ti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710" y="3486150"/>
            <a:ext cx="297180" cy="297180"/>
          </a:xfrm>
          <a:prstGeom prst="rect">
            <a:avLst/>
          </a:prstGeom>
        </p:spPr>
      </p:pic>
      <p:sp>
        <p:nvSpPr>
          <p:cNvPr id="16" name="PrivText1"/>
          <p:cNvSpPr txBox="1"/>
          <p:nvPr/>
        </p:nvSpPr>
        <p:spPr>
          <a:xfrm>
            <a:off x="3977640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Export or delete data any time</a:t>
            </a:r>
            <a:endParaRPr lang="en-US" sz="1400" dirty="0"/>
          </a:p>
        </p:txBody>
      </p:sp>
      <p:sp>
        <p:nvSpPr>
          <p:cNvPr id="17" name="IconCircle Not a medical device; disclaimer on every view"/>
          <p:cNvSpPr/>
          <p:nvPr/>
        </p:nvSpPr>
        <p:spPr>
          <a:xfrm>
            <a:off x="6035040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4" descr="Not a medical device; disclaimer on every vie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630" y="3486150"/>
            <a:ext cx="297180" cy="297180"/>
          </a:xfrm>
          <a:prstGeom prst="rect">
            <a:avLst/>
          </a:prstGeom>
        </p:spPr>
      </p:pic>
      <p:sp>
        <p:nvSpPr>
          <p:cNvPr id="19" name="PrivText2"/>
          <p:cNvSpPr txBox="1"/>
          <p:nvPr/>
        </p:nvSpPr>
        <p:spPr>
          <a:xfrm>
            <a:off x="6766560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a medical device; disclaimer on every view</a:t>
            </a:r>
            <a:endParaRPr lang="en-US" sz="1400" dirty="0"/>
          </a:p>
        </p:txBody>
      </p:sp>
      <p:sp>
        <p:nvSpPr>
          <p:cNvPr id="20" name="PrivNote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Health data is sensitive: design for privacy regulations such as GDPR from day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Roadmap (12 weeks)</a:t>
            </a:r>
            <a:endParaRPr lang="en-US" sz="3400" dirty="0"/>
          </a:p>
        </p:txBody>
      </p:sp>
      <p:sp>
        <p:nvSpPr>
          <p:cNvPr id="3" name="TimelineLine"/>
          <p:cNvSpPr/>
          <p:nvPr/>
        </p:nvSpPr>
        <p:spPr>
          <a:xfrm>
            <a:off x="914400" y="1783080"/>
            <a:ext cx="722376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dash"/>
          </a:ln>
        </p:spPr>
      </p:sp>
      <p:sp>
        <p:nvSpPr>
          <p:cNvPr id="4" name="PhaseDot0"/>
          <p:cNvSpPr/>
          <p:nvPr/>
        </p:nvSpPr>
        <p:spPr>
          <a:xfrm>
            <a:off x="1051560" y="146304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PhaseNum0"/>
          <p:cNvSpPr txBox="1"/>
          <p:nvPr/>
        </p:nvSpPr>
        <p:spPr>
          <a:xfrm>
            <a:off x="10515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Phase0"/>
          <p:cNvSpPr/>
          <p:nvPr/>
        </p:nvSpPr>
        <p:spPr>
          <a:xfrm>
            <a:off x="457200" y="233172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haseWeeks0"/>
          <p:cNvSpPr txBox="1"/>
          <p:nvPr/>
        </p:nvSpPr>
        <p:spPr>
          <a:xfrm>
            <a:off x="5943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Weeks 1–3</a:t>
            </a:r>
            <a:endParaRPr lang="en-US" sz="1200" dirty="0"/>
          </a:p>
        </p:txBody>
      </p:sp>
      <p:sp>
        <p:nvSpPr>
          <p:cNvPr id="8" name="PhaseName0"/>
          <p:cNvSpPr txBox="1"/>
          <p:nvPr/>
        </p:nvSpPr>
        <p:spPr>
          <a:xfrm>
            <a:off x="59436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Foundations</a:t>
            </a:r>
            <a:endParaRPr lang="en-US" sz="1700" dirty="0"/>
          </a:p>
        </p:txBody>
      </p:sp>
      <p:sp>
        <p:nvSpPr>
          <p:cNvPr id="9" name="PhaseDesc0"/>
          <p:cNvSpPr txBox="1"/>
          <p:nvPr/>
        </p:nvSpPr>
        <p:spPr>
          <a:xfrm>
            <a:off x="594360" y="3246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models, auth, CRUD API, CSV import</a:t>
            </a:r>
            <a:endParaRPr lang="en-US" sz="1400" dirty="0"/>
          </a:p>
        </p:txBody>
      </p:sp>
      <p:sp>
        <p:nvSpPr>
          <p:cNvPr id="10" name="PhaseDot1"/>
          <p:cNvSpPr/>
          <p:nvPr/>
        </p:nvSpPr>
        <p:spPr>
          <a:xfrm>
            <a:off x="3154680" y="1463040"/>
            <a:ext cx="640080" cy="64008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1" name="PhaseNum1"/>
          <p:cNvSpPr txBox="1"/>
          <p:nvPr/>
        </p:nvSpPr>
        <p:spPr>
          <a:xfrm>
            <a:off x="31546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Phase1"/>
          <p:cNvSpPr/>
          <p:nvPr/>
        </p:nvSpPr>
        <p:spPr>
          <a:xfrm>
            <a:off x="2560320" y="233172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haseWeeks1"/>
          <p:cNvSpPr txBox="1"/>
          <p:nvPr/>
        </p:nvSpPr>
        <p:spPr>
          <a:xfrm>
            <a:off x="269748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Weeks 4–6</a:t>
            </a:r>
            <a:endParaRPr lang="en-US" sz="1200" dirty="0"/>
          </a:p>
        </p:txBody>
      </p:sp>
      <p:sp>
        <p:nvSpPr>
          <p:cNvPr id="14" name="PhaseName1"/>
          <p:cNvSpPr txBox="1"/>
          <p:nvPr/>
        </p:nvSpPr>
        <p:spPr>
          <a:xfrm>
            <a:off x="269748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Analytics engine</a:t>
            </a:r>
            <a:endParaRPr lang="en-US" sz="1700" dirty="0"/>
          </a:p>
        </p:txBody>
      </p:sp>
      <p:sp>
        <p:nvSpPr>
          <p:cNvPr id="15" name="PhaseDesc1"/>
          <p:cNvSpPr txBox="1"/>
          <p:nvPr/>
        </p:nvSpPr>
        <p:spPr>
          <a:xfrm>
            <a:off x="2697480" y="3246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Trends, moving averages, reference ranges</a:t>
            </a:r>
            <a:endParaRPr lang="en-US" sz="1400" dirty="0"/>
          </a:p>
        </p:txBody>
      </p:sp>
      <p:sp>
        <p:nvSpPr>
          <p:cNvPr id="16" name="PhaseDot2"/>
          <p:cNvSpPr/>
          <p:nvPr/>
        </p:nvSpPr>
        <p:spPr>
          <a:xfrm>
            <a:off x="5257800" y="146304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PhaseNum2"/>
          <p:cNvSpPr txBox="1"/>
          <p:nvPr/>
        </p:nvSpPr>
        <p:spPr>
          <a:xfrm>
            <a:off x="52578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Phase2"/>
          <p:cNvSpPr/>
          <p:nvPr/>
        </p:nvSpPr>
        <p:spPr>
          <a:xfrm>
            <a:off x="4663440" y="233172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haseWeeks2"/>
          <p:cNvSpPr txBox="1"/>
          <p:nvPr/>
        </p:nvSpPr>
        <p:spPr>
          <a:xfrm>
            <a:off x="48006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Weeks 7–9</a:t>
            </a:r>
            <a:endParaRPr lang="en-US" sz="1200" dirty="0"/>
          </a:p>
        </p:txBody>
      </p:sp>
      <p:sp>
        <p:nvSpPr>
          <p:cNvPr id="20" name="PhaseName2"/>
          <p:cNvSpPr txBox="1"/>
          <p:nvPr/>
        </p:nvSpPr>
        <p:spPr>
          <a:xfrm>
            <a:off x="480060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UI &amp; alerts</a:t>
            </a:r>
            <a:endParaRPr lang="en-US" sz="1700" dirty="0"/>
          </a:p>
        </p:txBody>
      </p:sp>
      <p:sp>
        <p:nvSpPr>
          <p:cNvPr id="21" name="PhaseDesc2"/>
          <p:cNvSpPr txBox="1"/>
          <p:nvPr/>
        </p:nvSpPr>
        <p:spPr>
          <a:xfrm>
            <a:off x="4800600" y="3246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Next.js UI, charts, Celery alerts, correlation</a:t>
            </a:r>
            <a:endParaRPr lang="en-US" sz="1400" dirty="0"/>
          </a:p>
        </p:txBody>
      </p:sp>
      <p:sp>
        <p:nvSpPr>
          <p:cNvPr id="22" name="PhaseDot3"/>
          <p:cNvSpPr/>
          <p:nvPr/>
        </p:nvSpPr>
        <p:spPr>
          <a:xfrm>
            <a:off x="7360920" y="1463040"/>
            <a:ext cx="640080" cy="6400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3" name="PhaseNum3"/>
          <p:cNvSpPr txBox="1"/>
          <p:nvPr/>
        </p:nvSpPr>
        <p:spPr>
          <a:xfrm>
            <a:off x="73609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Phase3"/>
          <p:cNvSpPr/>
          <p:nvPr/>
        </p:nvSpPr>
        <p:spPr>
          <a:xfrm>
            <a:off x="6766560" y="233172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haseWeeks3"/>
          <p:cNvSpPr txBox="1"/>
          <p:nvPr/>
        </p:nvSpPr>
        <p:spPr>
          <a:xfrm>
            <a:off x="690372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Weeks 10–12</a:t>
            </a:r>
            <a:endParaRPr lang="en-US" sz="1200" dirty="0"/>
          </a:p>
        </p:txBody>
      </p:sp>
      <p:sp>
        <p:nvSpPr>
          <p:cNvPr id="26" name="PhaseName3"/>
          <p:cNvSpPr txBox="1"/>
          <p:nvPr/>
        </p:nvSpPr>
        <p:spPr>
          <a:xfrm>
            <a:off x="690372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Harden &amp; ship</a:t>
            </a:r>
            <a:endParaRPr lang="en-US" sz="1700" dirty="0"/>
          </a:p>
        </p:txBody>
      </p:sp>
      <p:sp>
        <p:nvSpPr>
          <p:cNvPr id="27" name="PhaseDesc3"/>
          <p:cNvSpPr txBox="1"/>
          <p:nvPr/>
        </p:nvSpPr>
        <p:spPr>
          <a:xfrm>
            <a:off x="6903720" y="3246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Testing, security review, deployment, docs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Outcomes and future scope</a:t>
            </a:r>
            <a:endParaRPr lang="en-US" sz="3400" dirty="0"/>
          </a:p>
        </p:txBody>
      </p:sp>
      <p:sp>
        <p:nvSpPr>
          <p:cNvPr id="3" name="OutcomeCard"/>
          <p:cNvSpPr/>
          <p:nvPr/>
        </p:nvSpPr>
        <p:spPr>
          <a:xfrm>
            <a:off x="457200" y="1280160"/>
            <a:ext cx="4023360" cy="256032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OutHead"/>
          <p:cNvSpPr txBox="1"/>
          <p:nvPr/>
        </p:nvSpPr>
        <p:spPr>
          <a:xfrm>
            <a:off x="6858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EXPECTED OUTCOMES</a:t>
            </a:r>
            <a:endParaRPr lang="en-US" sz="1200" dirty="0"/>
          </a:p>
        </p:txBody>
      </p:sp>
      <p:sp>
        <p:nvSpPr>
          <p:cNvPr id="5" name="OutList"/>
          <p:cNvSpPr txBox="1"/>
          <p:nvPr/>
        </p:nvSpPr>
        <p:spPr>
          <a:xfrm>
            <a:off x="685800" y="18288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Working MVP with trend dashboard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Explainable, non-diagnostic analytics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 API ready for new biomarkers</a:t>
            </a:r>
            <a:endParaRPr lang="en-US" sz="1600" dirty="0"/>
          </a:p>
        </p:txBody>
      </p:sp>
      <p:sp>
        <p:nvSpPr>
          <p:cNvPr id="6" name="FutureCard"/>
          <p:cNvSpPr/>
          <p:nvPr/>
        </p:nvSpPr>
        <p:spPr>
          <a:xfrm>
            <a:off x="4663440" y="1280160"/>
            <a:ext cx="4023360" cy="256032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FutHead"/>
          <p:cNvSpPr txBox="1"/>
          <p:nvPr/>
        </p:nvSpPr>
        <p:spPr>
          <a:xfrm>
            <a:off x="489204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8" name="FutList"/>
          <p:cNvSpPr txBox="1"/>
          <p:nvPr/>
        </p:nvSpPr>
        <p:spPr>
          <a:xfrm>
            <a:off x="4892040" y="18288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Wearable and health-app import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Lab-report PDF extraction (OCR)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Clinician sharing and mobile app</a:t>
            </a:r>
            <a:endParaRPr lang="en-US" sz="1600" dirty="0"/>
          </a:p>
        </p:txBody>
      </p:sp>
      <p:sp>
        <p:nvSpPr>
          <p:cNvPr id="9" name="ThankYou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accent3"/>
                </a:solidFill>
              </a:rPr>
              <a:t>Thank you —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Track">
  <a:themeElements>
    <a:clrScheme name="BioTrack">
      <a:dk1>
        <a:srgbClr val="0B2B33"/>
      </a:dk1>
      <a:lt1>
        <a:srgbClr val="FFFFFF"/>
      </a:lt1>
      <a:dk2>
        <a:srgbClr val="0B3C49"/>
      </a:dk2>
      <a:lt2>
        <a:srgbClr val="E8F5F3"/>
      </a:lt2>
      <a:accent1>
        <a:srgbClr val="0E7C86"/>
      </a:accent1>
      <a:accent2>
        <a:srgbClr val="FF6B5B"/>
      </a:accent2>
      <a:accent3>
        <a:srgbClr val="2EC4B6"/>
      </a:accent3>
      <a:accent4>
        <a:srgbClr val="F4B942"/>
      </a:accent4>
      <a:accent5>
        <a:srgbClr val="5B7C99"/>
      </a:accent5>
      <a:accent6>
        <a:srgbClr val="8E6BBF"/>
      </a:accent6>
      <a:hlink>
        <a:srgbClr val="0E7C86"/>
      </a:hlink>
      <a:folHlink>
        <a:srgbClr val="5B7C99"/>
      </a:folHlink>
    </a:clrScheme>
    <a:fontScheme name="BioTr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BioTrack — Project Proposal</dc:title>
  <dc:subject>PptxGenJS Presentation</dc:subject>
  <dc:creator>PptxGenJS</dc:creator>
  <cp:lastModifiedBy>PptxGenJS</cp:lastModifiedBy>
  <cp:revision>1</cp:revision>
  <dcterms:created xsi:type="dcterms:W3CDTF">2026-10-05T05:42:41Z</dcterms:created>
  <dcterms:modified xsi:type="dcterms:W3CDTF">2026-10-05T05:42:41Z</dcterms:modified>
</cp:coreProperties>
</file>